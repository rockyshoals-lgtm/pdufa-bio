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Catalysts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TIER 1</c:v>
                  </c:pt>
                  <c:pt idx="1">
                    <c:v>TIER 2</c:v>
                  </c:pt>
                  <c:pt idx="2">
                    <c:v>TIER 3</c:v>
                  </c:pt>
                  <c:pt idx="3">
                    <c:v>TIER 4
(excl.)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180</c:v>
                </c:pt>
                <c:pt idx="1">
                  <c:v>110</c:v>
                </c:pt>
                <c:pt idx="2">
                  <c:v>176</c:v>
                </c:pt>
                <c:pt idx="3">
                  <c:v>331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Capital ($)</c:v>
                </c:pt>
              </c:strCache>
            </c:strRef>
          </c:tx>
          <c:spPr>
            <a:solidFill>
              <a:srgbClr val="333333"/>
            </a:solidFill>
            <a:ln w="31750" cap="flat">
              <a:solidFill>
                <a:srgbClr val="33333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33333"/>
              </a:solidFill>
              <a:ln w="9525" cap="flat">
                <a:solidFill>
                  <a:srgbClr val="33333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Sheet1!$A$2:$A$19</c:f>
              <c:multiLvlStrCache>
                <c:ptCount val="18"/>
                <c:lvl>
                  <c:pt idx="0">
                    <c:v>#1</c:v>
                  </c:pt>
                  <c:pt idx="1">
                    <c:v>#6</c:v>
                  </c:pt>
                  <c:pt idx="2">
                    <c:v>#11</c:v>
                  </c:pt>
                  <c:pt idx="3">
                    <c:v>#16</c:v>
                  </c:pt>
                  <c:pt idx="4">
                    <c:v>#21</c:v>
                  </c:pt>
                  <c:pt idx="5">
                    <c:v>#26</c:v>
                  </c:pt>
                  <c:pt idx="6">
                    <c:v>#31</c:v>
                  </c:pt>
                  <c:pt idx="7">
                    <c:v>#36</c:v>
                  </c:pt>
                  <c:pt idx="8">
                    <c:v>#41</c:v>
                  </c:pt>
                  <c:pt idx="9">
                    <c:v>#46</c:v>
                  </c:pt>
                  <c:pt idx="10">
                    <c:v>#51</c:v>
                  </c:pt>
                  <c:pt idx="11">
                    <c:v>#56</c:v>
                  </c:pt>
                  <c:pt idx="12">
                    <c:v>#61</c:v>
                  </c:pt>
                  <c:pt idx="13">
                    <c:v>#66</c:v>
                  </c:pt>
                  <c:pt idx="14">
                    <c:v>#71</c:v>
                  </c:pt>
                  <c:pt idx="15">
                    <c:v>#76</c:v>
                  </c:pt>
                  <c:pt idx="16">
                    <c:v>#81</c:v>
                  </c:pt>
                  <c:pt idx="17">
                    <c:v>#85</c:v>
                  </c:pt>
                </c:lvl>
              </c:multiLvlStrCache>
            </c:multiLvl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141237</c:v>
                </c:pt>
                <c:pt idx="1">
                  <c:v>145424</c:v>
                </c:pt>
                <c:pt idx="2">
                  <c:v>156876</c:v>
                </c:pt>
                <c:pt idx="3">
                  <c:v>161196</c:v>
                </c:pt>
                <c:pt idx="4">
                  <c:v>169279</c:v>
                </c:pt>
                <c:pt idx="5">
                  <c:v>174406</c:v>
                </c:pt>
                <c:pt idx="6">
                  <c:v>180251</c:v>
                </c:pt>
                <c:pt idx="7">
                  <c:v>185335</c:v>
                </c:pt>
                <c:pt idx="8">
                  <c:v>198572</c:v>
                </c:pt>
                <c:pt idx="9">
                  <c:v>202467</c:v>
                </c:pt>
                <c:pt idx="10">
                  <c:v>216082</c:v>
                </c:pt>
                <c:pt idx="11">
                  <c:v>222920</c:v>
                </c:pt>
                <c:pt idx="12">
                  <c:v>234098</c:v>
                </c:pt>
                <c:pt idx="13">
                  <c:v>245221</c:v>
                </c:pt>
                <c:pt idx="14">
                  <c:v>251694</c:v>
                </c:pt>
                <c:pt idx="15">
                  <c:v>260563</c:v>
                </c:pt>
                <c:pt idx="16">
                  <c:v>266762</c:v>
                </c:pt>
                <c:pt idx="17">
                  <c:v>269864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1200" kern="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ODIN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 Aggressive Biotech Catalyst Strategy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423160"/>
            <a:ext cx="2286000" cy="0"/>
          </a:xfrm>
          <a:prstGeom prst="line">
            <a:avLst/>
          </a:prstGeom>
          <a:noFill/>
          <a:ln w="2540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06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ODIN v5 + GUNGNIR v27 | Insider Overrides + Float Squeeze Detection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797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Catalysts Scored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3383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83464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Tradeable (incl. overrides)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0" y="3383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93776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Leapfrog Trades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40880" y="33832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+92.8%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040880" y="3886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$140K → $270K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4434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  |  Aggressive Strategy  |  pdufa.bio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Opportunity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ODIN is a machine-learning scoring engine trained on 2,200+ historical FDA events. It produces calibrated approval probabilities for PDUFA catalysts (AUC 0.9003) and phase readout success predictions via GUNGNIR (AUC 0.7529).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AGGRESSIVE strategy layers insider activity detection, float squeeze signals, and institutional accumulation overrides on top of the base ODIN/GUNGNIR scores. Names with &gt;15% insider holding or &lt;3M float receive tier boosts. Force-includes for BCTX and PMN based on qualitative edge.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811 catalysts, we scored 797, identified 466 tradeable (21 via insider/float overrides), and built an 85-trade leapfrog strategy targeting +92.8% return on $140K.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Metrics</a:t>
            </a:r>
            <a:endParaRPr lang="en-US" sz="14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417320"/>
          <a:ext cx="39319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8288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Starting Capital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Projected Final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$269,864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Return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+92.8%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Trades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Override Trades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 Trades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Sweet Spot (T1×MID)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@ 72.7% hit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Concurrent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positions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Force-Includes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BCTX, PMN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ODIN AI  |  pdufa.bio  |  Confidential  |  2/15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SCORING ENGINES WORK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931920" cy="32918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ODIN vNEXT v5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Approval Probability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AUC: 0.9003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features, L2 Ridge logistic regression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2,203 PDUFA events (2002-2024)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drivers: sponsor experience, BTD, priority review, surrogate endpoints, prior CRL history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PDUFA dates, NDA/BLA filings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System: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(≥0.85): LONG  |  T2 (≥0.65): CAUTIOUS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(≥0.40): MONITOR  |  T4 (&lt;0.40): NO TRADE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329184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GUNGNIR v27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Readout Success Prediction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Holdout AUC: 0.7529 (zero leakage)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features, L2 Ridge logistic regression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Pre-readout features only (no outcome data)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drivers: designation count, prior positive phase, surrogate endpoints, ORR×oncology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Phase 1/2/3 readouts via NLP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System:</a:t>
            </a:r>
            <a:endParaRPr lang="en-US" sz="950" dirty="0"/>
          </a:p>
          <a:p>
            <a:pPr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(≥0.70): 92.4% success rate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(0.55-0.70): 85.5%  |  T3 (0.40-0.55): 76.8%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ODIN AI  |  pdufa.bio  |  Confidential  |  3/15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AGGRESSIVE OVERRIDE SIGNALS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GUNGNIR does not capture insider activity, float tightness, or institutional accumulation. These signals are layered on top.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1828800"/>
                <a:gridCol w="34747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Insider Holding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≥15% insider ownership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tier boost, +3% position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Skin in the game = aligned incentives, less dilution 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Float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&lt;3M shares outstanding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tier boost, +3% position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Supply/demand imbalance amplifies runup momentum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Insider + Float Combo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≥10% insider + &lt;5M float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 tier boost, +3% position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signal: tight supply + insider conviction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Force-Include: BCTX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override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T4→T3, custom window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positive DSMBs, Fast Track, novel mechanism, AACR data Apr 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Force-Include: PMN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override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T3→T2, custom window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Director/CDO buying Mar 2026, 1.24M float, Citadel +168%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794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 OVERRIDE TRADES 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leapfrog (out of 85 total). These are names the model underscores but have strong off-model signals: insider conviction, institutional accumulation, or extreme float tightness.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ODIN AI  |  pdufa.bio  |  Confidential  |  4/15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RUNUP STRATEGY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the anticipation, sell the news. The runup IS the trade.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914400"/>
                <a:gridCol w="822960"/>
                <a:gridCol w="822960"/>
                <a:gridCol w="1097280"/>
                <a:gridCol w="914400"/>
                <a:gridCol w="914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 Size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Return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Hit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+7.95%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+6.50%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0.359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+2.78%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+6.39%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+3.15%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 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+1.93%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657600"/>
            <a:ext cx="822960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3703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DEAD MONEY ZONE:  </a:t>
            </a:r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T-7 to T-1 has negative median returns (-0.22%). Never hold through the binary event.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ODIN AI  |  pdufa.bio  |  Confidential  |  5/15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SCORING RESULTS: 797 CATALYSTS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457200" y="100584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Breakdown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0" y="1417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ODIN (PDUFA/NDA/BLA)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141732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943600" y="167335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GUNGNIR (Phase 1-3)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138160" y="167335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943600" y="192938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Scored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138160" y="192938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797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0" y="244144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Tradeable (incl. overrides)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8138160" y="244144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943600" y="26974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Excluded (T4)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138160" y="269748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331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43600" y="295351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Tier-boosted overrides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8138160" y="295351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943600" y="3465576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138160" y="3465576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943600" y="37216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138160" y="372160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943600" y="39776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138160" y="397764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176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943600" y="4489704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 Spot (T1×MID)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138160" y="4489704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ODIN AI  |  pdufa.bio  |  Confidential  |  6/15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HIGHEST-CONVICTION PDUFA CATALYSTS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ODIN vNEXT v5 — TIER 1 only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194560"/>
                <a:gridCol w="1371600"/>
                <a:gridCol w="914400"/>
                <a:gridCol w="640080"/>
                <a:gridCol w="640080"/>
                <a:gridCol w="914400"/>
                <a:gridCol w="6400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E[Ret]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TVTX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FILSPARI (sparsentan)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T-30→T-5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IMNM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AL102 - (RINGSIDE)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NDA Filing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T-30→T-5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RNA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Delpacibart braxlosiran (del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 Filing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T-30→T-5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Sovleplenib - (ESLIM-02)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sNDA Filing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T-30→T-5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MOLBREEVI (Molgradex) - (IMP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2026-08-22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T-14→T-7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RYTM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Setmelanotide - (TRANSCEND)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 priority 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2026-03-20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T-30→T-5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DNLI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Tividenofusp alfa (DNL310) 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 priority 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T-30→T-5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AXSM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AXS-05 (dextromethorphan HBr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 priority 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T-30→T-5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VRDN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Veligrotug (VRDN-001) - (THR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 priority 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T-30→T-5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Atacicept - (ORIGIN 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 priority 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2026-07-07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T-30→T-5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VRDN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VRDN-001 - (THRIVE)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 priority 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T-30→T-5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Ristoglogene autogetemcel (r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 Filing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2026-12-31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T-30→T-5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ODIN AI  |  pdufa.bio  |  Confidential  |  7/15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SWEET SPOT: TIER 1 × MID CAP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+7.95% mean return, 0.657 Sharpe, 72.7% hit rate  |  32 catalysts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011680"/>
                <a:gridCol w="2286000"/>
                <a:gridCol w="1097280"/>
                <a:gridCol w="914400"/>
                <a:gridCol w="64008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Drug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CMPX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CTX-009 (DLL4 X VEGF-A bi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Biliary tract cancer (BTC)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2/3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VSTM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GFH375/VS-7375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Cancer KRAS G12D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1/2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PRTC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LYT-200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Relapsed/refractory AML and MD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IMCR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Brenetafusp (IMC-F106C) 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 tumors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1/2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2026-12-31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SVRA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MOLBREEVI (Molgradex) - (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Autoimmune pulmonary alveolar 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2026-08-22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NBTX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NBTXR3 - (Study 1100)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Advanced Cancers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2026-12-31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BCYC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BT5528 and OPDIVO (nivolu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Solid tumors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1/2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2026-06-30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Givastomig (CLDN18.2 x 4-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HER2-negative metastatic gastr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2026-12-31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ZYNLONTA (Loncastuximab 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B-cell non-Hodgkin lymphoma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2026-12-31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XNCR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XmAb819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Renal Cell Carcinoma (RCC)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2026-12-31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ODIN AI  |  pdufa.bio  |  Confidential  |  8/15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AGGRESSIVE LEAPFROG STRATEGY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profits trade-to-trade. Max 8 concurrent, 5 nano/small. Insider/float overrides included.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37160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943600" y="1371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 Breakdown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0" y="182880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7955280" y="18288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trades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943600" y="20756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955280" y="207568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trades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943600" y="23225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955280" y="232257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trades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943600" y="25694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7955280" y="256946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trades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943600" y="306324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Sizing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943600" y="331012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T1×MID (sweet spot)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955280" y="3310128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943600" y="355701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(high conviction)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955280" y="355701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25-30%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943600" y="380390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(cautious)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7955280" y="3803904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18-22%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943600" y="40507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(monitor)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955280" y="405079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10-15%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ODIN AI  |  pdufa.bio  |  Confidential  |  9/15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LEAPFROG: TRADES 1-17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77240"/>
          <a:ext cx="877824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502920"/>
                <a:gridCol w="868680"/>
                <a:gridCol w="640080"/>
                <a:gridCol w="640080"/>
                <a:gridCol w="411480"/>
                <a:gridCol w="548640"/>
                <a:gridCol w="594360"/>
                <a:gridCol w="960120"/>
                <a:gridCol w="960120"/>
                <a:gridCol w="41148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E[Ret]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Override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ARVN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$21,000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$141,237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$35,309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$142,219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NDA Filing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$35,555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$143,207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VRTX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 Filing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$35,802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$144,202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NDA Filing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$36,051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$145,204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RYTM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$26,137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$145,424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$21,814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$146,709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VTYX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01-30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$22,006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$148,005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$17,761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$148,497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BCYC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1/2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$51,974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$152,629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CTMX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$53,420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$156,876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BCTX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$26,669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$159,143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PCSA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$23,871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$159,804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$23,971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$160,266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$24,040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$160,730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GPCR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$24,110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$161,196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$19,343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$161,732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ODIN AI  |  pdufa.bio  |  Confidential  |  10/15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LEAPFROG: TRADES 18-34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77240"/>
          <a:ext cx="877824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502920"/>
                <a:gridCol w="868680"/>
                <a:gridCol w="640080"/>
                <a:gridCol w="640080"/>
                <a:gridCol w="411480"/>
                <a:gridCol w="548640"/>
                <a:gridCol w="594360"/>
                <a:gridCol w="960120"/>
                <a:gridCol w="960120"/>
                <a:gridCol w="41148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E[Ret]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Override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$19,408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$162,269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NDA Filing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03-31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$48,681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$165,433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AXSM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 priori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03-31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$49,630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$168,659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03-31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$30,359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$169,279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 Filing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03-31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$30,470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$169,900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BMEA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03-31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$30,582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$171,854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 priori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04-03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$42,964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$173,049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OKYO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04-04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$25,957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$173,768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05-03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$31,278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$174,406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EDSA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04-15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6.39%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$36,625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$176,746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BEAM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04-29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$26,512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$177,258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BCRX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04-29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$26,589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$177,771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$44,443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$179,007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GSK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$44,752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$180,251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IONS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 priori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$45,063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$181,504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VRTX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sNDA Filing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$45,376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$182,765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$45,691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$184,035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ODIN AI  |  pdufa.bio  |  Confidential  |  11/15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LEAPFROG: TRADES 35-51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77240"/>
          <a:ext cx="877824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502920"/>
                <a:gridCol w="868680"/>
                <a:gridCol w="640080"/>
                <a:gridCol w="640080"/>
                <a:gridCol w="411480"/>
                <a:gridCol w="548640"/>
                <a:gridCol w="594360"/>
                <a:gridCol w="960120"/>
                <a:gridCol w="960120"/>
                <a:gridCol w="41148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E[Ret]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Override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BIVI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$27,605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$184,800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WVE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1/2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$27,720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$185,335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ARVN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05-22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05-31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$40,774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$186,619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ARQT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$55,986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$190,258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COGT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NDA Filing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05-31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$57,077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$193,968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NDA Filing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05-31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$58,191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$197,751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$29,663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$198,572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$29,786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$199,397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BIVI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$29,910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$200,226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GNPX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1/2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$30,034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$201,058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1/2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06-29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$24,127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$201,726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VTRS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06-30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$36,311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$202,467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07-02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$54,666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$209,027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07-02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$52,257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$210,480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07-02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$52,620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$211,942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07-02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$38,150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$214,189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ABCL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07-02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$32,128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$216,082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ODIN AI  |  pdufa.bio  |  Confidential  |  12/15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LEAPFROG: TRADES 52-68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77240"/>
          <a:ext cx="877824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502920"/>
                <a:gridCol w="868680"/>
                <a:gridCol w="640080"/>
                <a:gridCol w="640080"/>
                <a:gridCol w="411480"/>
                <a:gridCol w="548640"/>
                <a:gridCol w="594360"/>
                <a:gridCol w="960120"/>
                <a:gridCol w="960120"/>
                <a:gridCol w="41148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E[Ret]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Override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CLYM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07-02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$32,412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$217,991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1/2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07-02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5.89%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$32,699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$219,917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MRK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$54,979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$221,445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CABA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1/2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$26,573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$222,181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AVTX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$26,662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$222,920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$26,750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$223,661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MNOV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$26,839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$224,404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ALMS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08-31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$67,321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$228,780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PTGX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08-31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$68,634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$233,241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ROIV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 priori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08-31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$41,983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$234,098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2/3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08-31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$42,138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$234,957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AMLX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$82,235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$241,495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PSTV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$60,374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$242,642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CLDX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09-25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3.15%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$53,381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$244,324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VTRS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09-17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$43,978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$245,221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BOLT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09-29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$36,783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$246,240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SKYE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09-29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$29,549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$247,058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ODIN AI  |  pdufa.bio  |  Confidential  |  13/15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LEAPFROG: TRADES 69-85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777240"/>
          <a:ext cx="877824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502920"/>
                <a:gridCol w="868680"/>
                <a:gridCol w="640080"/>
                <a:gridCol w="640080"/>
                <a:gridCol w="411480"/>
                <a:gridCol w="548640"/>
                <a:gridCol w="594360"/>
                <a:gridCol w="960120"/>
                <a:gridCol w="960120"/>
                <a:gridCol w="41148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Ticker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E[Ret]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Capital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Override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10-16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10-23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$61,765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$248,232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$62,058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$249,957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VRTX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$62,489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$251,694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ALNY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$62,924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$253,444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1/2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$63,361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$255,205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RVMD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$63,801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$256,979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GILD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1/2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$64,245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$258,765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ABBV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$64,691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$260,563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PFE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PDUFA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11-01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MEGA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$65,141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$262,374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$39,356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$263,464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BLA Filing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$39,520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$264,559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SHPH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$39,684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$265,658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2b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2.77%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$39,849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$266,762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KRYS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$40,014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$267,534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ARWR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1/2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$40,130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$268,309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TNGX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1/2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$40,246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$269,085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IRON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 2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12-24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12-30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$40,363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$269,864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ODIN AI  |  pdufa.bio  |  Confidential  |  14/15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MANAGEMENT &amp; DISCLAIMER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Aggressive Risk Controls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8 concurrent positions (up from 6).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5 nano/small-cap concurrent (up from 3).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Insider/float overrides can boost T4→T3 or T3→T2 only — never to T1.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Force-includes (BCTX, PMN) bypass concurrent limits but follow position sizing rules.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at window end. No exceptions.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hold through the binary PDUFA/readout event.</a:t>
            </a:r>
            <a:endParaRPr lang="en-US" sz="1000" dirty="0"/>
          </a:p>
          <a:p>
            <a:pPr indent="0" marL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sizing tied to Sharpe + insider/float bonus.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money zone (T-7 to T-1) still respected.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5488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Important Disclosures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37160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an AGGRESSIVE strategy with elevated risk. Override signals are qualitative and not validated by backtesting.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is for informational purposes only and does not constitute investment advice.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performance and backtested results do not guarantee future returns.</a:t>
            </a:r>
            <a:endParaRPr lang="en-US" sz="950" dirty="0"/>
          </a:p>
          <a:p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Biotech stocks carry substantial risk including total loss of capital. Nano/small-cap positions with low float can experience extreme volatility in both directions.</a:t>
            </a:r>
            <a:endParaRPr lang="en-US" sz="9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leapfrog compounding projection assumes all trades execute at empirical average returns, which will not occur in practice.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ODIN AI  |  pdufa.bio  |  Confidential  |  15/15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ODIN Aggressive Investment Thesis 2026</dc:title>
  <dc:subject>PptxGenJS Presentation</dc:subject>
  <dc:creator>ODIN AI</dc:creator>
  <cp:lastModifiedBy>ODIN AI</cp:lastModifiedBy>
  <cp:revision>1</cp:revision>
  <dcterms:created xsi:type="dcterms:W3CDTF">2026-03-16T01:52:09Z</dcterms:created>
  <dcterms:modified xsi:type="dcterms:W3CDTF">2026-03-16T01:52:09Z</dcterms:modified>
</cp:coreProperties>
</file>