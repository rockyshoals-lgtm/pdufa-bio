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Catalysts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TIER 1
(High Conviction)</c:v>
                  </c:pt>
                  <c:pt idx="1">
                    <c:v>TIER 2
(Cautious)</c:v>
                  </c:pt>
                  <c:pt idx="2">
                    <c:v>TIER 3
(Monitor)</c:v>
                  </c:pt>
                  <c:pt idx="3">
                    <c:v>TIER 4
(No Trade)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176</c:v>
                </c:pt>
                <c:pt idx="1">
                  <c:v>104</c:v>
                </c:pt>
                <c:pt idx="2">
                  <c:v>165</c:v>
                </c:pt>
                <c:pt idx="3">
                  <c:v>352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Capital ($)</c:v>
                </c:pt>
              </c:strCache>
            </c:strRef>
          </c:tx>
          <c:spPr>
            <a:solidFill>
              <a:srgbClr val="333333"/>
            </a:solidFill>
            <a:ln w="31750" cap="flat">
              <a:solidFill>
                <a:srgbClr val="3333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33333"/>
              </a:solidFill>
              <a:ln w="9525" cap="flat">
                <a:solidFill>
                  <a:srgbClr val="3333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#1</c:v>
                  </c:pt>
                  <c:pt idx="1">
                    <c:v>#6</c:v>
                  </c:pt>
                  <c:pt idx="2">
                    <c:v>#11</c:v>
                  </c:pt>
                  <c:pt idx="3">
                    <c:v>#16</c:v>
                  </c:pt>
                  <c:pt idx="4">
                    <c:v>#21</c:v>
                  </c:pt>
                  <c:pt idx="5">
                    <c:v>#26</c:v>
                  </c:pt>
                  <c:pt idx="6">
                    <c:v>#31</c:v>
                  </c:pt>
                  <c:pt idx="7">
                    <c:v>#36</c:v>
                  </c:pt>
                  <c:pt idx="8">
                    <c:v>#41</c:v>
                  </c:pt>
                  <c:pt idx="9">
                    <c:v>#46</c:v>
                  </c:pt>
                  <c:pt idx="10">
                    <c:v>#51</c:v>
                  </c:pt>
                  <c:pt idx="11">
                    <c:v>#56</c:v>
                  </c:pt>
                  <c:pt idx="12">
                    <c:v>#61</c:v>
                  </c:pt>
                  <c:pt idx="13">
                    <c:v>#63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140825</c:v>
                </c:pt>
                <c:pt idx="1">
                  <c:v>144164</c:v>
                </c:pt>
                <c:pt idx="2">
                  <c:v>152043</c:v>
                </c:pt>
                <c:pt idx="3">
                  <c:v>158026</c:v>
                </c:pt>
                <c:pt idx="4">
                  <c:v>161722</c:v>
                </c:pt>
                <c:pt idx="5">
                  <c:v>165668</c:v>
                </c:pt>
                <c:pt idx="6">
                  <c:v>170278</c:v>
                </c:pt>
                <c:pt idx="7">
                  <c:v>173371</c:v>
                </c:pt>
                <c:pt idx="8">
                  <c:v>177827</c:v>
                </c:pt>
                <c:pt idx="9">
                  <c:v>185033</c:v>
                </c:pt>
                <c:pt idx="10">
                  <c:v>191897</c:v>
                </c:pt>
                <c:pt idx="11">
                  <c:v>197291</c:v>
                </c:pt>
                <c:pt idx="12">
                  <c:v>199924</c:v>
                </c:pt>
                <c:pt idx="13">
                  <c:v>200696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200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ODIN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Biotech Catalyst Investment Thesis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22860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Scoring: ODIN vNEXT v5 (AUC 0.9003) + GUNGNIR v27 (AUC 0.7529)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Catalysts Scored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83464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Tradeable (T1-T3)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Leapfrog Trades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+43.4%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0408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$140K → $201K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Prepared for Investor Review  |  pdufa.bio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is a machine-learning scoring engine trained on 2,200+ historical FDA events. It produces calibrated approval probabilities for PDUFA catalysts (AUC 0.9003) and phase readout success predictions via GUNGNIR (AUC 0.7529).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 exploits pre-event momentum ("runups") that occur T-60 to T-7 before catalyst dates. We exit before the binary event, capturing the predictable drift while avoiding coin-flip risk.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811 2026 biotech catalysts, we scored 797, identified 445 tradeable opportunities, and built a 63-trade leapfrog compounding strategy targeting +43.4% annual return on $140,000 starting capital.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17320"/>
          <a:ext cx="39319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Capital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Final Capital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$200,696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Return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+43.4%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Trades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Trades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(highest conviction)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Sweet Spot (T1×MID)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catalysts @ 72.7% hit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 (empirical)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51–73% by tier/cap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Holding Period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7–60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Concurrent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positions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2/13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SCORING ENGINES WORK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32918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ODIN vNEXT v5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Approval Probability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AUC: 0.9003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features, L2 Ridge logistic regression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2,203 PDUFA events (2002-2024)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drivers: sponsor experience, BTD, priority review, surrogate endpoints, prior CRL history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PDUFA dates, NDA/BLA filings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System: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(≥0.85): LONG  |  T2 (≥0.65): CAUTIOUS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(≥0.40): MONITOR  |  T4 (&lt;0.40): NO TRADE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32918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GUNGNIR v27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Readout Success Prediction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AUC: 0.7529 (zero leakage)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features, L2 Ridge logistic regression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Pre-readout features only (no outcome data)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drivers: designation count, prior positive phase, surrogate endpoints, ORR×oncology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Phase 1/2/3 readouts via NLP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System: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(≥0.70): 92.4% success rate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(0.55-0.70): 85.5%  |  T3 (0.40-0.55): 76.8%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3/13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RUNUP STRATEGY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the anticipation, sell the news. The runup IS the trade.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822960"/>
                <a:gridCol w="822960"/>
                <a:gridCol w="109728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Return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+7.95%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+6.50%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+2.78%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+6.39%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+3.15%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+1.93%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703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DEAD MONEY ZONE: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T-7 to T-1 has negative median returns (-0.22%). Never hold through the binary event. The runup ends at T-7 for most tier/cap combinations. T-1 clean means zero PDUFA exposure.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4/13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RESULTS: 797 CATALYSTS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Breakdown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(PDUFA/NDA/BLA)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1417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0" y="16733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GUNGNIR (Phase 1-3)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138160" y="16733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0" y="19293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Scored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138160" y="19293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797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24414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Tradeable (T1-T3)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138160" y="24414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4360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(T4)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138160" y="26974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32095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(≥0.85 / ≥0.70)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138160" y="32095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943600" y="34655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(≥0.65 / ≥0.55)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138160" y="34655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43600" y="37216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(≥0.40 / ≥0.40)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138160" y="37216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943600" y="42336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 (T1×MID)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138160" y="4233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5/13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HIGHEST-CONVICTION PDUFA CATALYSTS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vNEXT v5 scored — TIER 1 only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94560"/>
                <a:gridCol w="1371600"/>
                <a:gridCol w="914400"/>
                <a:gridCol w="640080"/>
                <a:gridCol w="640080"/>
                <a:gridCol w="914400"/>
                <a:gridCol w="6400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E[Ret]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TVTX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FILSPARI (sparsentan)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IMNM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AL102 - (RINGSIDE)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 Filing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Delpacibart braxlosiran (del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 Filing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Sovleplenib - (ESLIM-02)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sNDA Filing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MOLBREEVI (Molgradex) - (IMP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T-14→T-7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RYTM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Setmelanotide - (TRANSCEND)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 priority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2026-03-20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Tividenofusp alfa (DNL310) 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 priority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AXSM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AXS-05 (dextromethorphan HBr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 priority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VRDN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Veligrotug (VRDN-001) - (THR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 priority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Atacicept - (ORIGIN 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 priority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VRDN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VRDN-001 - (THRIVE)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 priority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Ristoglogene autogetemcel (r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 Filing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2026-12-31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6/13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SWEET SPOT: TIER 1 × MID CAP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best: +7.95% mean return, 0.657 Sharpe, 72.7% hit rate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011680"/>
                <a:gridCol w="2286000"/>
                <a:gridCol w="1097280"/>
                <a:gridCol w="914400"/>
                <a:gridCol w="6400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CTX-009 (DLL4 X VEGF-A 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Biliary tract cancer (BTC)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2/3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VSTM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GFH375/VS-7375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Cancer KRAS G12D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PRTC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LYT-200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Relapsed/refractory AML and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Brenetafusp (IMC-F106C) 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tumors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2026-12-31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MOLBREEVI (Molgradex) - (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Autoimmune pulmonary alveolar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NBTX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NBTXR3 - (Study 1100)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Cancers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2026-12-31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BCYC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BT5528 and OPDIVO (nivolu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tumors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Givastomig (CLDN18.2 x 4-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HER2-negative metastatic gastr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2026-12-31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ZYNLONTA (Loncastuximab 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B-cell non-Hodgkin lymphoma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2026-12-31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XNCR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XmAb819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Renal Cell Carcinoma (RCC)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2026-12-31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29 catalysts sit at the intersection of highest ODIN/GUNGNIR conviction and the market-cap tier with the best empirical runup performance. Entry at T-14, exit at T-7.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7/13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LEAPFROG COMPOUNDING STRATEGY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profits from completed trades into the next trade's position size. Each win makes the next trade bigger.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Breakdown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1828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1828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trades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0" y="20756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955280" y="20756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trades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0" y="23225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955280" y="232257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trades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43600" y="25694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55280" y="25694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trades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43600" y="30632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Sizing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33101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T1×MID (sweet spot)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955280" y="33101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943600" y="35570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(high conviction)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955280" y="35570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43600" y="38039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(cautious)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955280" y="38039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15-18%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943600" y="40507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(monitor)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955280" y="40507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8/13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LEAPFROG: TRADES 1-16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548640"/>
                <a:gridCol w="914400"/>
                <a:gridCol w="685800"/>
                <a:gridCol w="685800"/>
                <a:gridCol w="457200"/>
                <a:gridCol w="594360"/>
                <a:gridCol w="640080"/>
                <a:gridCol w="1005840"/>
                <a:gridCol w="100584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E[Ret]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ARVN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$140,825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$28,165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$141,608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 Filing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$28,322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$142,395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 Filing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$28,479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$143,187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VRTX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 Filing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$28,637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$143,983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RYTM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$21,597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$144,164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$11,533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$144,484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BCYC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$43,345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$147,930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CTMX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$44,379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$151,458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$15,146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$151,750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$15,175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$152,043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$15,204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$152,336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$12,187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$152,674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$12,214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$153,012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AXSM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 priori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$38,253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$155,499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 Filing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$38,875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$158,026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9/13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LEAPFROG: TRADES 17-32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548640"/>
                <a:gridCol w="914400"/>
                <a:gridCol w="685800"/>
                <a:gridCol w="685800"/>
                <a:gridCol w="457200"/>
                <a:gridCol w="594360"/>
                <a:gridCol w="640080"/>
                <a:gridCol w="1005840"/>
                <a:gridCol w="100584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E[Ret]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$23,704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$158,509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 Filing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$23,776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$158,994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BMEA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$23,849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$160,518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 priori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$32,104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$161,411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$16,141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$161,722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BCRX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$16,172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$162,034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$32,407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$162,935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$32,587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$163,841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 priori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$32,768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$164,752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$32,950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$165,668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$33,134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$166,589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$41,647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$169,296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IDYA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$16,930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$169,623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$16,962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$169,950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GLPG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$16,995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$170,278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CYTK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$17,028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$170,607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10/13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LEAPFROG: TRADES 33-48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548640"/>
                <a:gridCol w="914400"/>
                <a:gridCol w="685800"/>
                <a:gridCol w="685800"/>
                <a:gridCol w="457200"/>
                <a:gridCol w="594360"/>
                <a:gridCol w="640080"/>
                <a:gridCol w="1005840"/>
                <a:gridCol w="100584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E[Ret]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$17,061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$170,936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$25,640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$171,459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$34,292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$172,413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$34,483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$173,371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$17,337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$174,392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ANRO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$17,439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$175,420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$17,542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$176,453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$35,291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$177,434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MNOV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$14,195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$177,827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$14,226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$178,221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AVTX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$14,258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$178,616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PTGX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$44,654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$181,519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$45,380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$184,468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2/3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$27,670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$185,033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 priori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$27,755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$185,599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AMLX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$55,680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$190,025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11/13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LEAPFROG: TRADES 49-63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548640"/>
                <a:gridCol w="914400"/>
                <a:gridCol w="685800"/>
                <a:gridCol w="685800"/>
                <a:gridCol w="457200"/>
                <a:gridCol w="594360"/>
                <a:gridCol w="640080"/>
                <a:gridCol w="1005840"/>
                <a:gridCol w="100584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E[Ret]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PSTV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$38,005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$190,748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SKYE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$15,260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$191,170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$38,234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$191,897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$38,379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$192,964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$38,593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$194,037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$38,807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$195,115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$39,023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$196,200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VRTX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$39,240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$197,291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RVMD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$39,458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$198,388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$19,839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$198,771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$19,877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$199,155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TNGX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$19,915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$199,539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PCVX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$19,954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$199,924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$19,992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$200,310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VRDN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$200,696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12/13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MANAGEMENT &amp; DISCLAIMER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Controls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= NO TRADE.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exceptions regardless of revenue impact or narrative.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6 concurrent positions to limit correlation risk.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3 nano/small-cap concurrent to limit liquidity risk.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at window end (T-7 or T-5). No exceptions.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hold through the binary PDUFA/readout event.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sizing tied to Sharpe ratio and tier.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money zone (T-7 to T-1) empirically validated.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Important Disclosures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is for informational purposes only and does not constitute investment advice.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performance and backtested results do not guarantee future returns. All projected returns are based on historical empirical data and model estimates.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and GUNGNIR scores represent statistical probabilities, not certainties. Individual catalyst outcomes are binary and unpredictable.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Biotech stocks carry substantial risk including total loss of capital. Position sizing and diversification rules are designed to mitigate but not eliminate this risk.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leapfrog compounding projection assumes all trades execute at empirical average returns, which will not occur in practice. Actual results will vary.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13/13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ODIN Investment Thesis 2026</dc:title>
  <dc:subject>PptxGenJS Presentation</dc:subject>
  <dc:creator>ODIN AI</dc:creator>
  <cp:lastModifiedBy>ODIN AI</cp:lastModifiedBy>
  <cp:revision>1</cp:revision>
  <dcterms:created xsi:type="dcterms:W3CDTF">2026-03-14T14:25:23Z</dcterms:created>
  <dcterms:modified xsi:type="dcterms:W3CDTF">2026-03-14T14:25:23Z</dcterms:modified>
</cp:coreProperties>
</file>