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2nd-try approval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Branded (clean CMC)</c:v>
                  </c:pt>
                  <c:pt idx="1">
                    <c:v>All incl. generic/biosimilar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Got a 2nd CRL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Branded (clean CMC)</c:v>
                  </c:pt>
                  <c:pt idx="1">
                    <c:v>All incl. generic/biosimilar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</c:v>
                </c:pt>
                <c:pt idx="1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72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decisions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32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C3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Pre-market
(&lt;9:30a)</c:v>
                  </c:pt>
                  <c:pt idx="1">
                    <c:v>Intraday
(9:30a–4p)</c:v>
                  </c:pt>
                  <c:pt idx="2">
                    <c:v>After-close
(&gt;4p)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21</c:v>
                </c:pt>
                <c:pt idx="2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632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0E7C8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PDUFA.BIO RESEARCH  ·  SITUATION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Unicycive Therapeutics  (Nasdaq: UNCY)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69748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Oxylanthanum Carbonate (OLC) — FDA decision due Monday, June 29, 2026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370332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103E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822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PDUFA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4114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· Jun 29, 2026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24528" y="370332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103E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3822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07408" y="4114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 (Class 2 resubmission)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82128" y="370332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103E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3822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65008" y="4114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Manufacturing/CMC-only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" y="621792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&amp; educational only — not investment advice or a prediction of any FDA decision.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manufacturing-only CRL — now on its second try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&amp; educational only — not investment advice. Verify against primary FDA/SEC sources.  ·  pdufa.bio  ·  Jun 27,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61264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128016" cy="1280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59105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Sep–Nov 2024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52928" y="159105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submitted &amp; accepted · PDUFA Jun 28, 2025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28016" cy="1280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23500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30, 2025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2928" y="2350008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 — cGMP issue at a third-party CDMO subcontractor (not the drug-substance vendor). FDA cited NO preclinical/clinical/safety concerns.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128016" cy="1280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3108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Sep–Oct 2025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2928" y="310896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meeting — single deficiency; "constructive" feedback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959352"/>
            <a:ext cx="128016" cy="1280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9848" y="386791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12, 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52928" y="386791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regulators re-inspect the same vendor → no deficiencies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4718304"/>
            <a:ext cx="128016" cy="1280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1069848" y="4626864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29, 2025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52928" y="462686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resubmitted (vendor "significant progress toward regaining FDA compliance")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477256"/>
            <a:ext cx="128016" cy="1280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1069848" y="538581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29, 2026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52928" y="538581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as Class 2 · PDUFA → Jun 29, 2026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49440" y="1417320"/>
            <a:ext cx="22128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5160" y="1527048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~$7.0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040880" y="213055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· micro-cap (~$219M)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54312" y="1417320"/>
            <a:ext cx="22128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00032" y="1527048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±54%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445752" y="213055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implied move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2697480"/>
            <a:ext cx="22128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95160" y="2807208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040880" y="341071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rank (elevated)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354312" y="2697480"/>
            <a:ext cx="22128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400032" y="2807208"/>
            <a:ext cx="21214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$57M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9445752" y="341071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· runway into 2027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49440" y="3977640"/>
            <a:ext cx="4617720" cy="2194560"/>
          </a:xfrm>
          <a:prstGeom prst="roundRect">
            <a:avLst>
              <a:gd name="adj" fmla="val 3333"/>
            </a:avLst>
          </a:prstGeom>
          <a:solidFill>
            <a:srgbClr val="EEF5F6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50608" y="4114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Friday read-through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50608" y="4480560"/>
            <a:ext cx="4206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de-risked ~−13% into the weekend on 3×+ volume — classic pre-PDUFA profit-taking.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is cheap/available (~0.6% fee), so it's not a squeeze setup. Options still call-heavy but the ±54% implied move says the market is pricing a real binary, not a sure thing.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RATE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often does a CMC CRL clear on the 2nd try?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&amp; educational only — not investment advice. Verify against primary FDA/SEC sources.  ·  pdufa.bio  ·  Jun 27,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66420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2267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clean CMC CRL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on the NEXT cycle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7288" y="15544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166420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38728" y="22677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…draws a SECOND CRL instead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66928" y="2971800"/>
          <a:ext cx="5577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446520" y="1554480"/>
            <a:ext cx="5175504" cy="4343400"/>
          </a:xfrm>
          <a:prstGeom prst="roundRect">
            <a:avLst>
              <a:gd name="adj" fmla="val 1684"/>
            </a:avLst>
          </a:prstGeom>
          <a:solidFill>
            <a:srgbClr val="EEF5F6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NOT 90%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75120" y="2194560"/>
            <a:ext cx="471830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"~90%" conflates two different questions: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 approved (any # of cycles) ≈ 85–90% ✓  — this is where the 90% lives.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on the literal 2nd PDUFA (no 2nd CRL) ≈ 70% — the real answer to "second try."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93–100% figures are a publication-bias artifact: 2021–23 CRLs were only published BECAUSE they later approved.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 window = 2024 cohort (least biased): branded 70% / 30%. Verified cohort sets a 59% floor; corpus an 88% ceiling → ~70% center.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Generics/biosimilars (foreign single-CMO plants) fail re-inspection far more — they drag the all-in number to ~41%.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2nd-try winners vs. cases that drew a second CRL (2021–26)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&amp; educational only — not investment advice. Verify against primary FDA/SEC sources.  ·  pdufa.bio  ·  Jun 27,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5321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673352"/>
            <a:ext cx="310896" cy="31089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916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07008" y="16733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on the 2nd try — 10 (median ~10 mo)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SPPI  </a:t>
            </a:r>
            <a:pPr indent="0" marL="0">
              <a:buNone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Rolvedon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47288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LLY  </a:t>
            </a:r>
            <a:pPr indent="0" marL="0">
              <a:buNone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Omvoh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279806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LLY  </a:t>
            </a:r>
            <a:pPr indent="0" marL="0">
              <a:buNone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Ebglyss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47288" y="279806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 </a:t>
            </a:r>
            <a:pPr indent="0" marL="0">
              <a:buNone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Selarsdi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3401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CKPT  </a:t>
            </a:r>
            <a:pPr indent="0" marL="0">
              <a:buNone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Unloxcyt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47288" y="34015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ALPMY  </a:t>
            </a:r>
            <a:pPr indent="0" marL="0">
              <a:buNone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Vyloy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4005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REGN  </a:t>
            </a:r>
            <a:pPr indent="0" marL="0">
              <a:buNone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Lynozyfic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47288" y="4005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RCKT  </a:t>
            </a:r>
            <a:pPr indent="0" marL="0">
              <a:buNone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Kresladi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6085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  </a:t>
            </a:r>
            <a:pPr indent="0" marL="0">
              <a:buNone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Cardamyst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47288" y="46085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FBIO  </a:t>
            </a:r>
            <a:pPr indent="0" marL="0">
              <a:buNone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CUTX-101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1248" y="5440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FBIO/CUTX-101 is the closest match to UNCY: pure cGMP-facility CRL → Class-1 resub → approved in 3.4 months.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463040"/>
            <a:ext cx="5330952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9672" y="167335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16916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16733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Drew a 2nd CRL — 7 branded (+18 generic)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22128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VRCA Ycanth  —  </a:t>
            </a:r>
            <a:pPr indent="0" marL="0">
              <a:buNone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CRLs → approved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7157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CRMD DefenCath  —  </a:t>
            </a:r>
            <a:pPr indent="0" marL="0">
              <a:buNone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CRLs → approved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2186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ABBV Vyalev  —  </a:t>
            </a:r>
            <a:pPr indent="0" marL="0">
              <a:buNone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CRLs → approved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7216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 Ebvallo  —  </a:t>
            </a:r>
            <a:pPr indent="0" marL="0">
              <a:buNone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→ then EFFICACY CRL · unapproved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42245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XSPR Dasynoc  —  </a:t>
            </a:r>
            <a:pPr indent="0" marL="0">
              <a:buNone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CMC+labeling · unapproved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7274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NeuroDerm ND0612  —  </a:t>
            </a:r>
            <a:pPr indent="0" marL="0">
              <a:buNone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CRLs · unapproved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52303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Conjupro irinotecan  —  </a:t>
            </a:r>
            <a:pPr indent="0" marL="0">
              <a:buNone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CRLs · unapproved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57790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tail risk isn't a repeat CMC CRL — it's the CMC→efficacy flip (Atara), where fixing the factory exposes an un-approvable drug. Low for OLC (clinical never questioned).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 TIMING — HARD NUMBER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the news actually hit? (n = 38 decisions, 2024–26)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&amp; educational only — not investment advice. Verify against primary FDA/SEC sources.  ·  pdufa.bio  ·  Jun 27, 2026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60020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526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79% of decisions land OUTSIDE regular trading hours. Only ~1 in 5 hits during the live session.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6928" y="50749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" y="51846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58368" y="57881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Small-caps → PRE-MARKET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(intraday only 10%)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01568" y="50749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47288" y="51846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493008" y="57881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come EARLY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(before the PDUFA date)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1600200"/>
            <a:ext cx="5330952" cy="4572000"/>
          </a:xfrm>
          <a:prstGeom prst="roundRect">
            <a:avLst>
              <a:gd name="adj" fmla="val 1600"/>
            </a:avLst>
          </a:prstGeom>
          <a:solidFill>
            <a:srgbClr val="EEF5F6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19672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 for Monday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19672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fixate on Monday's regular session — the gap most likely happens overnight.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decisions come EARLY → your window opens THIS WEEKEND, not Monday 9:30.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small-cap, UNCY skews pre-market (~60%); a CRL specifically goes out pre-market ~71% of the time (digested before the open).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skew after-close (~50%), paired with an evening call.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UNCY house style: every material PR at 07:05 ET. (CRL went out 7:05a; the first CMC disclosure at 6:00a.)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EU-CLEARANCE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Europe clearing the facility matter? Mildly — not decisively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&amp; educational only — not investment advice. Verify against primary FDA/SEC sources.  ·  pdufa.bio  ·  Jun 27,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EEF5F6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 (FDA–EU MRA)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011680"/>
            <a:ext cx="5074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OLC is an oral small molecule (505(b)(2)) → squarely IN MRA scope (good: an EU GMP inspection is relevant, not excluded like biologics).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pre-approval inspections (PAIs) are NOT operationalized under the MRA — "put on-hold."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EU "no deficiencies" finding ≠ a substitute for FDA's product-specific PAI. FDA can (and routinely does) inspect independently.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3434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" y="44622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480060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Celltrion Herzuma &amp; Samsung Ontruzant — EU-approved, FDA mfg CRL, then approved (~8 mo later).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Alvotech's Reykjavik plant was EU-cleared &amp; commercializing in Europe — yet drew THREE FDA CRLs on the FDA's own inspection.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30952" cy="4663440"/>
          </a:xfrm>
          <a:prstGeom prst="roundRect">
            <a:avLst>
              <a:gd name="adj" fmla="val 1569"/>
            </a:avLst>
          </a:prstGeom>
          <a:solidFill>
            <a:srgbClr val="0B3C49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9672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9672" y="20574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Mildly supportive — a corroborating input, not a green light.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19672" y="32004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competent peer regulator finding the EXACT vendor sound lowers the odds the deficiency was structural/intractable.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binding step is the FDA re-confirming the SPECIFIC cited deficiency is fixed — via its own inspection/records review.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the narrow CRL + clean resubmission + constructive Type A more than the EU inspection itself. "EU-OK ≠ FDA-OK."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COMMUNICATIONS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Unicycive has actually said — and not said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&amp; educational only — not investment advice. Verify against primary FDA/SEC sources.  ·  pdufa.bio  ·  Jun 27,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9436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1907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16459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Sep–Nov 2024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61488" y="16459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Pre-problem confidence — "prepare to launch 2H-2025"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4505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23774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10, 2025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61488" y="23774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crack: cGMP deficiency at a CDMO subcontractor; label talks "precluded"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18211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1042416" y="310896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30, 2025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61488" y="31089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 — but "unrelated to OLC," "no other concerns," promise of "rapid resolution"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91363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416" y="3840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Oct–Nov 2025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61488" y="38404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"constructive" + EU re-inspection found "no deficiencies"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464515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416" y="45720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29, 2025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61488" y="457200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"Significant progress toward regaining FDA compliance" → resubmitted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37667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1042416" y="5303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Mar–May 2026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61488" y="53035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"Remains on track," "constructive &amp; timely" FDA dialogue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20840" y="1463040"/>
            <a:ext cx="4919472" cy="4709160"/>
          </a:xfrm>
          <a:prstGeom prst="roundRect">
            <a:avLst>
              <a:gd name="adj" fmla="val 1553"/>
            </a:avLst>
          </a:prstGeom>
          <a:solidFill>
            <a:srgbClr val="FBF3E2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1691640"/>
            <a:ext cx="310896" cy="310896"/>
          </a:xfrm>
          <a:prstGeom prst="ellipse">
            <a:avLst/>
          </a:prstGeom>
          <a:solidFill>
            <a:srgbClr val="B9770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709928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60920" y="16733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tell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2148840"/>
            <a:ext cx="4480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7A4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has NEVER said "the FDA re-inspected and cleared the facility."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C4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claim is "significant progress toward regaining FDA compliance" — a statement about a third party's status, made before FDA sign-off.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C4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lean on the EU clearance to imply resolution. Accurate, but EU ≠ FDA.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C4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their credit: they've consistently (and correctly) said FDA raised NO clinical/safety/efficacy concerns — the molecule isn't the issue.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 case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&amp; educational only — not investment advice. Verify against primary FDA/SEC sources.  ·  pdufa.bio  ·  Jun 27,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728655" y="457200"/>
            <a:ext cx="640080" cy="64008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7" name="Text 5"/>
          <p:cNvSpPr/>
          <p:nvPr/>
        </p:nvSpPr>
        <p:spPr>
          <a:xfrm>
            <a:off x="10728655" y="548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66928" y="16002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EF6E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801368"/>
            <a:ext cx="329184" cy="32918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819656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5296" y="17465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Clean, narrow CRL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25296" y="21122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4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third-party SUBCONTRACTOR cGMP issue — not the drug-substance vendor, not OLC's data.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0488" y="16002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EF6E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91656" y="1801368"/>
            <a:ext cx="329184" cy="32918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5" name="Text 13"/>
          <p:cNvSpPr/>
          <p:nvPr/>
        </p:nvSpPr>
        <p:spPr>
          <a:xfrm>
            <a:off x="6391656" y="1819656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48856" y="17465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molecule isn't in question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48856" y="21122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4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cited NO preclinical, clinical or safety concerns — repeatedly.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08152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EF6E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" y="3282696"/>
            <a:ext cx="329184" cy="32918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30098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5296" y="3227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 re-cleared the vendor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25296" y="359359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4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inspected the same site → no deficiencies. OLC is in MRA scope.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0488" y="308152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EF6E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91656" y="3282696"/>
            <a:ext cx="329184" cy="32918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6391656" y="330098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48856" y="3227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Constructive regulatory path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48856" y="359359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4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"constructive"; resubmission accepted as Class 2; "on track."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56285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EF6E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" y="4764024"/>
            <a:ext cx="329184" cy="32918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478231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25296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 the winners profile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25296" y="507492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4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branded CMC → ~70%+ next-cycle; FBIO/CUTX-101 cleared in 3.4 mo.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0488" y="456285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EEF6E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91656" y="4764024"/>
            <a:ext cx="329184" cy="32918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5" name="Text 33"/>
          <p:cNvSpPr/>
          <p:nvPr/>
        </p:nvSpPr>
        <p:spPr>
          <a:xfrm>
            <a:off x="6391656" y="478231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48856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financing gun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48856" y="507492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4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$57M cash, runway into 2027 — not forced to raise into the catalyst.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AGAINST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 case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&amp; educational only — not investment advice. Verify against primary FDA/SEC sources.  ·  pdufa.bio  ·  Jun 27,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728655" y="45720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0728655" y="548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66928" y="16002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BEEEC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801368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819656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5296" y="17465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 still get a 2nd CRL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25296" y="21122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clean branded CMC cases. The real risk is another CYCLE, not a binary zero.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0488" y="160020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BEEEC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91656" y="1801368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391656" y="1819656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48856" y="17465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≠ FDA clearance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48856" y="21122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runs its OWN product-specific PAI. Alvotech was EU-cleared and still drew 3 FDA CRLs.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08152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BEEEC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" y="328269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30098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5296" y="3227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binding result is unknown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25296" y="359359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says "progress toward regaining compliance," never "FDA re-inspected &amp; cleared."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0488" y="308152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BEEEC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91656" y="328269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391656" y="330098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48856" y="3227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Single-CMO small-cap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48856" y="359359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prone to repeat facility CRLs; the fix is a third party's, outside UNCY's control.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56285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BEEEC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" y="4764024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478231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25296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prices uncertainty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25296" y="507492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±54% implied move — options are NOT pricing a sure thing.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0488" y="456285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BEEEC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91656" y="4764024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6391656" y="478231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48856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sponsor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48856" y="507492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FDA approval; first-cycle execution risk on a manufacturing remediation.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840480" cy="384048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Favorable — but not 90%, and not a sure thing.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105783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UNCY sits in the favorable end of the branded CMC bucket (clean single third-party issue, no clinical/safety flags, EU re-cleared the vendor) → base rate ABOVE the ~70% second-try average.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 clearance is supportive, not decisive. The residual risk is "another cycle" (a 2nd CRL), not a binary failure — the efficacy-flip tail is largely off the table here.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3063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03E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49300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come EARLY → watch from this weekend, not Mon 9:30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3063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03E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349300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~71% pre-market (≈6–8a ET) — bad news before the open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4768" y="3063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03E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APPROVAL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349300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after-close, with an evening/next-AM 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33688" y="3063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03E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STYLE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98280" y="349300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UNCY releases material news at 07:05 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709160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0E2E38"/>
          </a:solidFill>
          <a:ln w="12700">
            <a:solidFill>
              <a:srgbClr val="B977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846320"/>
            <a:ext cx="1060063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Disclaimer.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and educational only — not investment advice, not a recommendation, and not a prediction of any FDA decision. Base rates are directional, not probabilities for this drug. Verify every date and figure against primary FDA / SEC / company filings. Do your own due diligence.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pdufa.bio research  ·  sources: openFDA CRL corpus, FDA–EU MRA, company PRs/8-Ks, Unusual Whales  ·  Jun 27,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UNCY OLC Situation Analysis</dc:title>
  <dc:subject>PptxGenJS Presentation</dc:subject>
  <dc:creator>pdufa.bio</dc:creator>
  <cp:lastModifiedBy>pdufa.bio</cp:lastModifiedBy>
  <cp:revision>1</cp:revision>
  <dcterms:created xsi:type="dcterms:W3CDTF">2026-06-28T02:01:48Z</dcterms:created>
  <dcterms:modified xsi:type="dcterms:W3CDTF">2026-06-28T02:01:48Z</dcterms:modified>
</cp:coreProperties>
</file>